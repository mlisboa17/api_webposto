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POSTO VIP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CADCFC"/>
                </a:solidFill>
              </a:defRPr>
            </a:pPr>
            <a:r>
              <a:t>Relatório Financeiro e Caixa</a:t>
            </a:r>
          </a:p>
          <a:p>
            <a:pPr>
              <a:defRPr sz="2400">
                <a:solidFill>
                  <a:srgbClr val="CADCFC"/>
                </a:solidFill>
              </a:defRPr>
            </a:pPr>
            <a:r>
              <a:t>13/04/2026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5F2D"/>
          </a:solidFill>
          <a:ln>
            <a:solidFill>
              <a:srgbClr val="1B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📊 Resumo Executivo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242D2F"/>
                </a:solidFill>
              </a:defRPr>
            </a:pPr>
            <a:r>
              <a:t>✅ Posição de Caixa Saudável: R$ 12.300,00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19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242D2F"/>
                </a:solidFill>
              </a:defRPr>
            </a:pPr>
            <a:r>
              <a:t>💰 Títulos a Receber: R$ 13.200,00 | Títulos a Pagar: R$ 9.950,00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242D2F"/>
                </a:solidFill>
              </a:defRPr>
            </a:pPr>
            <a:r>
              <a:t>📈 Total de Vendas Diárias: R$ 6.800,00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242D2F"/>
                </a:solidFill>
              </a:defRPr>
            </a:pPr>
            <a:r>
              <a:t>⚠️ 1 Título Vencido: TIT006 (R$ 450,00) - Ação Imediata Necessária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242D2F"/>
                </a:solidFill>
              </a:defRPr>
            </a:pPr>
            <a:r>
              <a:t>🔴 5 Títulos a Receber em Vencimento Próximo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4048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242D2F"/>
                </a:solidFill>
              </a:defRPr>
            </a:pPr>
            <a:r>
              <a:t>✅ Posição Líquida: +R$ 15.550,00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5F2D"/>
          </a:solidFill>
          <a:ln>
            <a:solidFill>
              <a:srgbClr val="1B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🔢 Métricas Principais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2560320" cy="1645920"/>
          </a:xfrm>
          <a:prstGeom prst="rect">
            <a:avLst/>
          </a:prstGeom>
          <a:solidFill>
            <a:srgbClr val="28A745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19" y="1554480"/>
            <a:ext cx="23774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R$ 12.300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2286000"/>
            <a:ext cx="23774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Caixa Total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371600"/>
            <a:ext cx="2560320" cy="1645920"/>
          </a:xfrm>
          <a:prstGeom prst="rect">
            <a:avLst/>
          </a:prstGeom>
          <a:solidFill>
            <a:srgbClr val="1B5F2D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1554480"/>
            <a:ext cx="23774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R$ 3.300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286000"/>
            <a:ext cx="23774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Vendas Pista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371600"/>
            <a:ext cx="2560320" cy="1645920"/>
          </a:xfrm>
          <a:prstGeom prst="rect">
            <a:avLst/>
          </a:prstGeom>
          <a:solidFill>
            <a:srgbClr val="1B5F2D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554480"/>
            <a:ext cx="23774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R$ 3.500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286000"/>
            <a:ext cx="23774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Vendas Estoque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474720"/>
            <a:ext cx="2560320" cy="1645920"/>
          </a:xfrm>
          <a:prstGeom prst="rect">
            <a:avLst/>
          </a:prstGeom>
          <a:solidFill>
            <a:srgbClr val="0D6EFD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19" y="3657600"/>
            <a:ext cx="23774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R$ 13.200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19" y="4389120"/>
            <a:ext cx="23774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A Receber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3474720"/>
            <a:ext cx="2560320" cy="1645920"/>
          </a:xfrm>
          <a:prstGeom prst="rect">
            <a:avLst/>
          </a:prstGeom>
          <a:solidFill>
            <a:srgbClr val="FF6B35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3657600"/>
            <a:ext cx="23774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R$ 9.950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4389120"/>
            <a:ext cx="23774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A Pagar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3474720"/>
            <a:ext cx="2560320" cy="1645920"/>
          </a:xfrm>
          <a:prstGeom prst="rect">
            <a:avLst/>
          </a:prstGeom>
          <a:solidFill>
            <a:srgbClr val="28A745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3657600"/>
            <a:ext cx="23774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+R$ 15.550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389120"/>
            <a:ext cx="23774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Posição Líquida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5F2D"/>
          </a:solidFill>
          <a:ln>
            <a:solidFill>
              <a:srgbClr val="1B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💵 Títulos a Receber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242D2F"/>
                </a:solidFill>
              </a:defRPr>
            </a:pPr>
            <a:r>
              <a:t>TIT001 — Cliente A: R$ 1.500,00 (Vence 13/05) - Pendente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19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242D2F"/>
                </a:solidFill>
              </a:defRPr>
            </a:pPr>
            <a:r>
              <a:t>TIT003 — Cliente C: R$ 3.200,00 (Vence 13/04) - ✅ PAGO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242D2F"/>
                </a:solidFill>
              </a:defRPr>
            </a:pPr>
            <a:r>
              <a:t>TIT005 — Cliente E: R$ 2.800,00 (Vence 20/04) - Pendente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242D2F"/>
                </a:solidFill>
              </a:defRPr>
            </a:pPr>
            <a:r>
              <a:t>TIT007 — Cliente G: R$ 1.200,00 (Vence 30/04) - Pendente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242D2F"/>
                </a:solidFill>
              </a:defRPr>
            </a:pPr>
            <a:r>
              <a:t>TIT009 — Cliente I: R$ 4.500,00 (Vence 05/05) - Pendente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4048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242D2F"/>
                </a:solidFill>
              </a:defRPr>
            </a:pPr>
            <a:r>
              <a:t>Total: R$ 13.200,00 | Pago: R$ 3.200,00 | Pendente: R$ 10.000,00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5F2D"/>
          </a:solidFill>
          <a:ln>
            <a:solidFill>
              <a:srgbClr val="1B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💳 Títulos a Pagar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242D2F"/>
                </a:solidFill>
              </a:defRPr>
            </a:pPr>
            <a:r>
              <a:t>🔴 TIT006 — Fornecedor F: R$ 450,00 (Vencido 15/04) - AÇÃO IMEDIATA!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19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242D2F"/>
                </a:solidFill>
              </a:defRPr>
            </a:pPr>
            <a:r>
              <a:t>TIT002 — Fornecedor B: R$ 800,00 (Vence 20/04) - Combustível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242D2F"/>
                </a:solidFill>
              </a:defRPr>
            </a:pPr>
            <a:r>
              <a:t>TIT004 — Fornecedor D: R$ 2.500,00 (Vence 25/04) - Estoque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242D2F"/>
                </a:solidFill>
              </a:defRPr>
            </a:pPr>
            <a:r>
              <a:t>TIT008 — Fornecedor H: R$ 1.200,00 (Vence 10/05) - Serviços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242D2F"/>
                </a:solidFill>
              </a:defRPr>
            </a:pPr>
            <a:r>
              <a:t>TIT010 — Fornecedor J: R$ 5.000,00 (Vence 01/05) - Equipamento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4048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242D2F"/>
                </a:solidFill>
              </a:defRPr>
            </a:pPr>
            <a:r>
              <a:t>Total: R$ 9.950,00 | Vencidos: R$ 450,00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5F2D"/>
          </a:solidFill>
          <a:ln>
            <a:solidFill>
              <a:srgbClr val="1B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🏦 Movimento de Caixa (13/04)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242D2F"/>
                </a:solidFill>
              </a:defRPr>
            </a:pPr>
            <a:r>
              <a:t>Caixa 1: R$ 5.000 (Abertura) → R$ 7.800 (Fechamento)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19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242D2F"/>
                </a:solidFill>
              </a:defRPr>
            </a:pPr>
            <a:r>
              <a:t>  • Venda Pista: +R$ 1.200 | Combustível: +R$ 2.100 | Saque: -R$ 500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242D2F"/>
                </a:solidFill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242D2F"/>
                </a:solidFill>
              </a:defRPr>
            </a:pPr>
            <a:r>
              <a:t>Caixa 2: R$ 2.000 (Abertura) → R$ 4.500 (Fechamento)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242D2F"/>
                </a:solidFill>
              </a:defRPr>
            </a:pPr>
            <a:r>
              <a:t>  • Venda Estoque: +R$ 3.500 | Transferência Caixa 1: -R$ 1.000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4048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242D2F"/>
                </a:solidFill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80" y="438912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242D2F"/>
                </a:solidFill>
              </a:defRPr>
            </a:pPr>
            <a:r>
              <a:t>Total Final: R$ 12.300,00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5F2D"/>
          </a:solidFill>
          <a:ln>
            <a:solidFill>
              <a:srgbClr val="1B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⚠️ Alertas e Ações Recomendadas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242D2F"/>
                </a:solidFill>
              </a:defRPr>
            </a:pPr>
            <a:r>
              <a:t>🔴 CRÍTICO: Pagar TIT006 (R$ 450) hoje - Vencido há 2 dias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19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242D2F"/>
                </a:solidFill>
              </a:defRPr>
            </a:pPr>
            <a:r>
              <a:t>🟡 ATENÇÃO: 5 títulos a receber vencendo em breve - Iniciar cobrança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242D2F"/>
                </a:solidFill>
              </a:defRPr>
            </a:pPr>
            <a:r>
              <a:t>🟢 POSITIVO: Caixa saudável (R$ 12.300) - Consolidar em conta bancária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242D2F"/>
                </a:solidFill>
              </a:defRPr>
            </a:pPr>
            <a:r>
              <a:t>💡 ESTRATÉGIA: Aumentar margem inicial de caixa (3x maior)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242D2F"/>
                </a:solidFill>
              </a:defRPr>
            </a:pPr>
            <a:r>
              <a:t>🔄 AUTOMAÇÃO: Implementar cobrança automática para títulos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4048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242D2F"/>
                </a:solidFill>
              </a:defRPr>
            </a:pPr>
            <a:r>
              <a:t>📊 MONITORAMENTO: Acompanhar diariamente via API webPosto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Aft>
                <a:spcPts val="2000"/>
              </a:spcAft>
              <a:defRPr sz="3600" b="1">
                <a:solidFill>
                  <a:srgbClr val="28A745"/>
                </a:solidFill>
              </a:defRPr>
            </a:pPr>
            <a:r>
              <a:t>✅ Sistema Online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API webPosto integrada com Confluence</a:t>
            </a:r>
            <a:br/>
            <a:r>
              <a:t>Sincronização automática em tempo real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